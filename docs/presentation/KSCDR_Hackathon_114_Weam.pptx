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24" userDrawn="1">
          <p15:clr>
            <a:srgbClr val="A4A3A4"/>
          </p15:clr>
        </p15:guide>
        <p15:guide id="2" pos="183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7CB"/>
    <a:srgbClr val="00D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91"/>
    <p:restoredTop sz="94657"/>
  </p:normalViewPr>
  <p:slideViewPr>
    <p:cSldViewPr snapToGrid="0" snapToObjects="1">
      <p:cViewPr>
        <p:scale>
          <a:sx n="33" d="100"/>
          <a:sy n="33" d="100"/>
        </p:scale>
        <p:origin x="224" y="16"/>
      </p:cViewPr>
      <p:guideLst>
        <p:guide orient="horz" pos="1824"/>
        <p:guide pos="1838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0A3D45"/>
                </a:solidFill>
                <a:latin typeface="Calibri"/>
              </a:rPr>
              <a:t>All engineering QA gates met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Result met</c:v>
                </c:pt>
              </c:strCache>
            </c:strRef>
          </c:tx>
          <c:spPr>
            <a:solidFill>
              <a:srgbClr val="00A896"/>
            </a:solidFill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800" b="1">
                        <a:solidFill>
                          <a:srgbClr val="FFFFFF"/>
                        </a:solidFill>
                        <a:latin typeface="Calibri"/>
                      </a:rPr>
                      <a:t>111 / 111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800" b="1">
                        <a:solidFill>
                          <a:srgbClr val="FFFFFF"/>
                        </a:solidFill>
                        <a:latin typeface="Calibri"/>
                      </a:rPr>
                      <a:t>18 / 18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800" b="1">
                        <a:solidFill>
                          <a:srgbClr val="FFFFFF"/>
                        </a:solidFill>
                        <a:latin typeface="Calibri"/>
                      </a:rPr>
                      <a:t>5 / 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Backend tests</c:v>
                </c:pt>
                <c:pt idx="1">
                  <c:v>DB migrations</c:v>
                </c:pt>
                <c:pt idx="2">
                  <c:v>Screen sizes checked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800" b="1">
                  <a:solidFill>
                    <a:srgbClr val="FFFFFF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7E4E3"/>
            </a:solidFill>
          </a:ln>
        </c:spPr>
        <c:txPr>
          <a:bodyPr/>
          <a:lstStyle/>
          <a:p>
            <a:pPr>
              <a:defRPr sz="1600">
                <a:solidFill>
                  <a:srgbClr val="0A3D45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AFB08B-8ECA-DE44-B949-98173D708852}" type="datetimeFigureOut">
              <a:rPr lang="en-SA" smtClean="0"/>
              <a:t>09/04/2026</a:t>
            </a:fld>
            <a:endParaRPr lang="en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81C374-5357-6A40-95D9-8ABE5ADC1E8C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772392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1C374-5357-6A40-95D9-8ABE5ADC1E8C}" type="slidenum">
              <a:rPr lang="en-SA" smtClean="0"/>
              <a:t>1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90348608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chart" Target="../charts/chart1.xml"/><Relationship Id="rId7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994116" y="3392244"/>
            <a:ext cx="5852160" cy="1554480"/>
          </a:xfrm>
          <a:prstGeom prst="roundRect">
            <a:avLst>
              <a:gd name="adj" fmla="val 50000"/>
            </a:avLst>
          </a:prstGeom>
          <a:solidFill>
            <a:srgbClr val="0A3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 dirty="0">
                <a:solidFill>
                  <a:srgbClr val="FFFFFF"/>
                </a:solidFill>
                <a:latin typeface="Calibri"/>
              </a:rPr>
              <a:t>TEAM</a:t>
            </a:r>
            <a:r>
              <a:rPr lang="en-US" sz="3400" b="1" dirty="0">
                <a:solidFill>
                  <a:srgbClr val="FFFFFF"/>
                </a:solidFill>
                <a:latin typeface="Calibri"/>
              </a:rPr>
              <a:t> NUMBER</a:t>
            </a:r>
            <a:r>
              <a:rPr sz="3400" b="1" dirty="0">
                <a:solidFill>
                  <a:srgbClr val="FFFFFF"/>
                </a:solidFill>
                <a:latin typeface="Calibri"/>
              </a:rPr>
              <a:t>  [</a:t>
            </a:r>
            <a:r>
              <a:rPr lang="en-US" sz="3400" b="1" dirty="0" err="1">
                <a:solidFill>
                  <a:srgbClr val="FFFFFF"/>
                </a:solidFill>
              </a:rPr>
              <a:t>KSCDR_Hackathon</a:t>
            </a:r>
            <a:r>
              <a:rPr lang="en-US" sz="3400" b="1" dirty="0">
                <a:solidFill>
                  <a:srgbClr val="FFFFFF"/>
                </a:solidFill>
              </a:rPr>
              <a:t>_</a:t>
            </a:r>
            <a:r>
              <a:rPr lang="ar-SA" sz="3400" b="1" dirty="0">
                <a:solidFill>
                  <a:srgbClr val="FFFFFF"/>
                </a:solidFill>
              </a:rPr>
              <a:t>114</a:t>
            </a:r>
            <a:r>
              <a:rPr sz="3400" b="1" dirty="0">
                <a:solidFill>
                  <a:srgbClr val="FFFFFF"/>
                </a:solidFill>
                <a:latin typeface="Calibri"/>
              </a:rPr>
              <a:t>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9800" y="3523798"/>
            <a:ext cx="12464080" cy="5816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600" b="1" dirty="0">
                <a:solidFill>
                  <a:srgbClr val="00A896"/>
                </a:solidFill>
                <a:latin typeface="Calibri"/>
              </a:rPr>
              <a:t>AI HACKATHON FOR PEOPLE WITH DISABILITIES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6657" y="4639281"/>
            <a:ext cx="9964617" cy="16839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200" b="1" dirty="0">
                <a:solidFill>
                  <a:srgbClr val="0A3D45"/>
                </a:solidFill>
                <a:latin typeface="Cambria"/>
              </a:rPr>
              <a:t>Weam</a:t>
            </a:r>
          </a:p>
        </p:txBody>
      </p:sp>
      <p:sp>
        <p:nvSpPr>
          <p:cNvPr id="8" name="Rectangle 7"/>
          <p:cNvSpPr/>
          <p:nvPr/>
        </p:nvSpPr>
        <p:spPr>
          <a:xfrm flipV="1">
            <a:off x="994116" y="8365775"/>
            <a:ext cx="28185722" cy="68266"/>
          </a:xfrm>
          <a:prstGeom prst="rect">
            <a:avLst/>
          </a:prstGeom>
          <a:solidFill>
            <a:srgbClr val="00C7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4116" y="8891241"/>
            <a:ext cx="13308806" cy="916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dirty="0">
                <a:solidFill>
                  <a:srgbClr val="00A896"/>
                </a:solidFill>
                <a:latin typeface="Calibri"/>
              </a:rPr>
              <a:t>TEAM MEMBERS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dirty="0">
                <a:solidFill>
                  <a:srgbClr val="0A3D45"/>
                </a:solidFill>
                <a:latin typeface="Calibri"/>
              </a:rPr>
              <a:t>[</a:t>
            </a:r>
            <a:r>
              <a:rPr lang="en-US" sz="3000" b="0" dirty="0">
                <a:solidFill>
                  <a:srgbClr val="0A3D45"/>
                </a:solidFill>
                <a:latin typeface="Calibri"/>
              </a:rPr>
              <a:t>Amal </a:t>
            </a:r>
            <a:r>
              <a:rPr lang="en-US" sz="3000" b="0" dirty="0" err="1">
                <a:solidFill>
                  <a:srgbClr val="0A3D45"/>
                </a:solidFill>
                <a:latin typeface="Calibri"/>
              </a:rPr>
              <a:t>Aljohani</a:t>
            </a:r>
            <a:r>
              <a:rPr sz="3000" b="0" dirty="0">
                <a:solidFill>
                  <a:srgbClr val="0A3D45"/>
                </a:solidFill>
                <a:latin typeface="Calibri"/>
              </a:rPr>
              <a:t>  ·  </a:t>
            </a:r>
            <a:r>
              <a:rPr lang="en-US" sz="3000" b="0" dirty="0">
                <a:solidFill>
                  <a:srgbClr val="0A3D45"/>
                </a:solidFill>
                <a:latin typeface="Calibri"/>
              </a:rPr>
              <a:t>Ghaida Alhadi</a:t>
            </a:r>
            <a:r>
              <a:rPr lang="ar-SA" sz="3000" b="0" dirty="0">
                <a:solidFill>
                  <a:srgbClr val="0A3D45"/>
                </a:solidFill>
                <a:latin typeface="Calibri"/>
              </a:rPr>
              <a:t> </a:t>
            </a:r>
            <a:r>
              <a:rPr sz="3000" b="0" dirty="0">
                <a:solidFill>
                  <a:srgbClr val="0A3D45"/>
                </a:solidFill>
                <a:latin typeface="Calibri"/>
              </a:rPr>
              <a:t>·  </a:t>
            </a:r>
            <a:r>
              <a:rPr lang="en-US" sz="3000" dirty="0" err="1">
                <a:solidFill>
                  <a:srgbClr val="0A3D45"/>
                </a:solidFill>
                <a:latin typeface="Calibri"/>
              </a:rPr>
              <a:t>Tarfaa</a:t>
            </a:r>
            <a:r>
              <a:rPr lang="en-US" sz="3000" dirty="0">
                <a:solidFill>
                  <a:srgbClr val="0A3D45"/>
                </a:solidFill>
                <a:latin typeface="Calibri"/>
              </a:rPr>
              <a:t> </a:t>
            </a:r>
            <a:r>
              <a:rPr lang="en-US" sz="3000" dirty="0" err="1">
                <a:solidFill>
                  <a:srgbClr val="0A3D45"/>
                </a:solidFill>
                <a:latin typeface="Calibri"/>
              </a:rPr>
              <a:t>Alokur</a:t>
            </a:r>
            <a:r>
              <a:rPr lang="en-US" sz="3000" dirty="0">
                <a:solidFill>
                  <a:srgbClr val="0A3D45"/>
                </a:solidFill>
                <a:latin typeface="Calibri"/>
              </a:rPr>
              <a:t> </a:t>
            </a:r>
            <a:r>
              <a:rPr sz="3000" b="0" dirty="0">
                <a:solidFill>
                  <a:srgbClr val="0A3D45"/>
                </a:solidFill>
                <a:latin typeface="Calibri"/>
              </a:rPr>
              <a:t>· </a:t>
            </a:r>
            <a:r>
              <a:rPr lang="ar-SA" sz="3000" b="0" dirty="0">
                <a:solidFill>
                  <a:srgbClr val="0A3D45"/>
                </a:solidFill>
                <a:latin typeface="Calibri"/>
              </a:rPr>
              <a:t> </a:t>
            </a:r>
            <a:r>
              <a:rPr lang="en-US" sz="3000" b="0" dirty="0" err="1">
                <a:solidFill>
                  <a:srgbClr val="0A3D45"/>
                </a:solidFill>
                <a:latin typeface="Calibri"/>
              </a:rPr>
              <a:t>Moudah</a:t>
            </a:r>
            <a:r>
              <a:rPr lang="en-US" sz="3000" b="0" dirty="0">
                <a:solidFill>
                  <a:srgbClr val="0A3D45"/>
                </a:solidFill>
                <a:latin typeface="Calibri"/>
              </a:rPr>
              <a:t> </a:t>
            </a:r>
            <a:r>
              <a:rPr lang="en-US" sz="3000" b="0" dirty="0" err="1">
                <a:solidFill>
                  <a:srgbClr val="0A3D45"/>
                </a:solidFill>
                <a:latin typeface="Calibri"/>
              </a:rPr>
              <a:t>AlSubhi</a:t>
            </a:r>
            <a:r>
              <a:rPr sz="3000" b="0" dirty="0">
                <a:solidFill>
                  <a:srgbClr val="0A3D45"/>
                </a:solidFill>
                <a:latin typeface="Calibri"/>
              </a:rPr>
              <a:t>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86246" y="8891241"/>
            <a:ext cx="13308806" cy="19891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dirty="0">
                <a:solidFill>
                  <a:srgbClr val="00A896"/>
                </a:solidFill>
                <a:latin typeface="Calibri"/>
              </a:rPr>
              <a:t>AFFILIATION</a:t>
            </a:r>
          </a:p>
          <a:p>
            <a:pPr algn="l">
              <a:lnSpc>
                <a:spcPct val="100000"/>
              </a:lnSpc>
              <a:spcAft>
                <a:spcPts val="1800"/>
              </a:spcAft>
            </a:pPr>
            <a:r>
              <a:rPr lang="en-US" sz="2800" b="0" dirty="0">
                <a:solidFill>
                  <a:srgbClr val="0A3D45"/>
                </a:solidFill>
                <a:latin typeface="Calibri"/>
              </a:rPr>
              <a:t> King Abdulaziz University</a:t>
            </a:r>
            <a:endParaRPr sz="2800" b="0" dirty="0">
              <a:solidFill>
                <a:srgbClr val="0A3D45"/>
              </a:solidFill>
              <a:latin typeface="Calibri"/>
            </a:endParaRP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dirty="0">
                <a:solidFill>
                  <a:srgbClr val="00A896"/>
                </a:solidFill>
                <a:latin typeface="Calibri"/>
              </a:rPr>
              <a:t>TRACK  ·  CATEGORY</a:t>
            </a:r>
          </a:p>
          <a:p>
            <a:pPr>
              <a:lnSpc>
                <a:spcPct val="105000"/>
              </a:lnSpc>
            </a:pPr>
            <a:r>
              <a:rPr sz="2600" b="0" dirty="0">
                <a:solidFill>
                  <a:srgbClr val="0A3D45"/>
                </a:solidFill>
                <a:latin typeface="Calibri"/>
              </a:rPr>
              <a:t>Everyday Life  ·  Individuals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1618" y="11405841"/>
            <a:ext cx="13680222" cy="786384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D7E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544538" y="12055065"/>
            <a:ext cx="310896" cy="310896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47458" y="11908761"/>
            <a:ext cx="12435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dirty="0">
                <a:solidFill>
                  <a:srgbClr val="0A3D45"/>
                </a:solidFill>
                <a:latin typeface="Cambria"/>
              </a:rPr>
              <a:t>Introduction and problem statement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1618" y="19818321"/>
            <a:ext cx="13680222" cy="786384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D7E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1544538" y="20467545"/>
            <a:ext cx="310896" cy="310896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47458" y="20321241"/>
            <a:ext cx="12435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0A3D45"/>
                </a:solidFill>
                <a:latin typeface="Cambria"/>
              </a:rPr>
              <a:t>Objectives and target users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1618" y="28230801"/>
            <a:ext cx="13680222" cy="877824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D7E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544538" y="28880025"/>
            <a:ext cx="310896" cy="310896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47458" y="28733721"/>
            <a:ext cx="12435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dirty="0">
                <a:solidFill>
                  <a:srgbClr val="0A3D45"/>
                </a:solidFill>
                <a:latin typeface="Cambria"/>
              </a:rPr>
              <a:t>Proposed solution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549086" y="11405841"/>
            <a:ext cx="13445966" cy="832104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D7E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6052006" y="12055065"/>
            <a:ext cx="310896" cy="310896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6554926" y="11908761"/>
            <a:ext cx="12435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0A3D45"/>
                </a:solidFill>
                <a:latin typeface="Cambria"/>
              </a:rPr>
              <a:t>Methodology and system design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549086" y="20275521"/>
            <a:ext cx="13445966" cy="832104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D7E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6052006" y="20924745"/>
            <a:ext cx="310896" cy="310896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6554926" y="20778441"/>
            <a:ext cx="12435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0A3D45"/>
                </a:solidFill>
                <a:latin typeface="Cambria"/>
              </a:rPr>
              <a:t>Results and evaluation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5549086" y="29145201"/>
            <a:ext cx="13445966" cy="786384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D7E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6052006" y="29794425"/>
            <a:ext cx="310896" cy="310896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6554926" y="29648121"/>
            <a:ext cx="12435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0A3D45"/>
                </a:solidFill>
                <a:latin typeface="Cambria"/>
              </a:rPr>
              <a:t>Discussion, impact and ethics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80160" y="38460363"/>
            <a:ext cx="27714892" cy="2423160"/>
          </a:xfrm>
          <a:prstGeom prst="roundRect">
            <a:avLst>
              <a:gd name="adj" fmla="val 1200"/>
            </a:avLst>
          </a:prstGeom>
          <a:solidFill>
            <a:srgbClr val="EAF5F3"/>
          </a:solidFill>
          <a:ln w="19050">
            <a:solidFill>
              <a:srgbClr val="D7E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783080" y="38713122"/>
            <a:ext cx="5063197" cy="1896081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D7E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783080" y="38871843"/>
            <a:ext cx="5063196" cy="14884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endParaRPr sz="9600" b="1" dirty="0">
              <a:solidFill>
                <a:srgbClr val="8FA3A8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4241328" y="38871843"/>
            <a:ext cx="4753724" cy="1415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dirty="0">
                <a:solidFill>
                  <a:srgbClr val="00A896"/>
                </a:solidFill>
                <a:latin typeface="Calibri"/>
              </a:rPr>
              <a:t>Contact: </a:t>
            </a:r>
            <a:br>
              <a:rPr lang="en-US" sz="2000" b="1" dirty="0">
                <a:solidFill>
                  <a:srgbClr val="00A896"/>
                </a:solidFill>
                <a:latin typeface="Calibri"/>
              </a:rPr>
            </a:br>
            <a:r>
              <a:rPr sz="2400" b="0" dirty="0">
                <a:solidFill>
                  <a:srgbClr val="8FA3A8"/>
                </a:solidFill>
                <a:latin typeface="Calibri"/>
              </a:rPr>
              <a:t>name</a:t>
            </a:r>
            <a:r>
              <a:rPr lang="ar-SA" sz="2400" b="0" dirty="0">
                <a:solidFill>
                  <a:srgbClr val="8FA3A8"/>
                </a:solidFill>
                <a:latin typeface="Calibri"/>
              </a:rPr>
              <a:t>   </a:t>
            </a:r>
            <a:r>
              <a:rPr lang="en-US" sz="2400" b="0" dirty="0">
                <a:solidFill>
                  <a:srgbClr val="8FA3A8"/>
                </a:solidFill>
                <a:latin typeface="Calibri"/>
              </a:rPr>
              <a:t>Ghaida Alhadi</a:t>
            </a:r>
            <a:br>
              <a:rPr lang="en-US" sz="2400" b="0" dirty="0">
                <a:solidFill>
                  <a:srgbClr val="8FA3A8"/>
                </a:solidFill>
                <a:latin typeface="Calibri"/>
              </a:rPr>
            </a:br>
            <a:r>
              <a:rPr sz="2400" b="0" dirty="0">
                <a:solidFill>
                  <a:srgbClr val="8FA3A8"/>
                </a:solidFill>
                <a:latin typeface="Calibri"/>
              </a:rPr>
              <a:t>email </a:t>
            </a:r>
            <a:r>
              <a:rPr lang="ar-SA" sz="2400" b="0" dirty="0">
                <a:solidFill>
                  <a:srgbClr val="8FA3A8"/>
                </a:solidFill>
                <a:latin typeface="Calibri"/>
              </a:rPr>
              <a:t>  </a:t>
            </a:r>
            <a:r>
              <a:rPr lang="en-US" sz="2400" dirty="0">
                <a:solidFill>
                  <a:srgbClr val="8FA3A8"/>
                </a:solidFill>
              </a:rPr>
              <a:t>ghaidaalhadi217@gmail.com</a:t>
            </a:r>
            <a:br>
              <a:rPr lang="en-US" sz="2400" b="0" dirty="0">
                <a:solidFill>
                  <a:srgbClr val="8FA3A8"/>
                </a:solidFill>
                <a:latin typeface="Calibri"/>
              </a:rPr>
            </a:br>
            <a:r>
              <a:rPr sz="2400" b="0" dirty="0">
                <a:solidFill>
                  <a:srgbClr val="8FA3A8"/>
                </a:solidFill>
                <a:latin typeface="Calibri"/>
              </a:rPr>
              <a:t>mobile </a:t>
            </a:r>
            <a:r>
              <a:rPr lang="ar-SA" sz="2400" b="0" dirty="0">
                <a:solidFill>
                  <a:srgbClr val="8FA3A8"/>
                </a:solidFill>
                <a:latin typeface="Calibri"/>
              </a:rPr>
              <a:t>  0559216346</a:t>
            </a:r>
            <a:endParaRPr sz="2400" b="0" dirty="0">
              <a:solidFill>
                <a:srgbClr val="8FA3A8"/>
              </a:solidFill>
              <a:latin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280160" y="41843643"/>
            <a:ext cx="277148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AI Hackathon for People with Disabilities  ·  King Salman Center for Disability Research  ·  Riyadh, 11–13 October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80160" y="41843643"/>
            <a:ext cx="277148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hackathon.kscdr.org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4857467" y="59892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7E4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200" b="0" dirty="0">
              <a:solidFill>
                <a:srgbClr val="8FA3A8"/>
              </a:solidFill>
              <a:latin typeface="Calibri"/>
            </a:endParaRPr>
          </a:p>
        </p:txBody>
      </p:sp>
      <p:sp>
        <p:nvSpPr>
          <p:cNvPr id="3000" name="PosterBody3000"/>
          <p:cNvSpPr/>
          <p:nvPr/>
        </p:nvSpPr>
        <p:spPr>
          <a:xfrm>
            <a:off x="2047458" y="13150000"/>
            <a:ext cx="12435840" cy="5819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A child's care journey is split across guardians, specialists, teachers, and centers, with no shared record between them.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Families repeat the same history at every visit; specialists work from partial context.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Reports, goals, and follow-ups live in different places and often go untracked.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Existing tools are either generic file storage or single-purpose apps.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Weam is built for different needs, not one diagnosis: hearing, mobility, learning, and early-intervention support.</a:t>
            </a:r>
          </a:p>
        </p:txBody>
      </p:sp>
      <p:sp>
        <p:nvSpPr>
          <p:cNvPr id="3001" name="PosterBody3001"/>
          <p:cNvSpPr/>
          <p:nvPr/>
        </p:nvSpPr>
        <p:spPr>
          <a:xfrm>
            <a:off x="2047458" y="21550000"/>
            <a:ext cx="12435840" cy="583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Give guardians one permission-controlled record for their child's reports, goals, and care team.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Let authorized specialists contribute and view only what they are granted.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Provide explainable, non-diagnostic AI assistance that summarizes and retrieves, never decides.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Primary users: guardians, care providers, centers, and administrators.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Demonstrated across four synthetic care journeys with different needs.</a:t>
            </a:r>
          </a:p>
        </p:txBody>
      </p:sp>
      <p:sp>
        <p:nvSpPr>
          <p:cNvPr id="3002" name="PosterBody3002"/>
          <p:cNvSpPr/>
          <p:nvPr/>
        </p:nvSpPr>
        <p:spPr>
          <a:xfrm>
            <a:off x="2047458" y="29950000"/>
            <a:ext cx="12435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One responsive web app for laptop and phone, Arabic-first RTL layout.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A unified child record, identity kept separate from care data.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Guardian-controlled care-team permissions, with expiry and revocation.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Every AI-generated output stays a labeled draft until a human reviews it.</a:t>
            </a:r>
          </a:p>
        </p:txBody>
      </p:sp>
      <p:sp>
        <p:nvSpPr>
          <p:cNvPr id="3003" name="PosterBody3003"/>
          <p:cNvSpPr/>
          <p:nvPr/>
        </p:nvSpPr>
        <p:spPr>
          <a:xfrm>
            <a:off x="16554926" y="13150000"/>
            <a:ext cx="12435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FastAPI + PostgreSQL backend, React + TypeScript frontend.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Access control enforced on every server request.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Hosted LLM for summarization and Q&amp;A, with a local fallback.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Identity kept separate from care data by design.</a:t>
            </a:r>
          </a:p>
        </p:txBody>
      </p:sp>
      <p:sp>
        <p:nvSpPr>
          <p:cNvPr id="3004" name="PosterBody3004"/>
          <p:cNvSpPr/>
          <p:nvPr/>
        </p:nvSpPr>
        <p:spPr>
          <a:xfrm>
            <a:off x="16554926" y="22000000"/>
            <a:ext cx="12435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111 of 111 backend tests passing, including new security regression tests.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All 18 database migrations verified from empty on a real PostgreSQL instance.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Zero horizontal-overflow issues found across five required screen sizes.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Every text/background color pairing checked against WCAG AA; worst case 5.18:1 contrast.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Engineering and QA evidence — no user study has been conducted yet.</a:t>
            </a:r>
          </a:p>
        </p:txBody>
      </p:sp>
      <p:sp>
        <p:nvSpPr>
          <p:cNvPr id="3005" name="PosterBody3005"/>
          <p:cNvSpPr/>
          <p:nvPr/>
        </p:nvSpPr>
        <p:spPr>
          <a:xfrm>
            <a:off x="16554926" y="30870000"/>
            <a:ext cx="12435840" cy="5839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Designed for guardian consent and least-privilege access from the data model up.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AI never diagnoses or prescribes treatment; every AI-influenced output requires human review before it can affect the record.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Center recommendations are explainable and never claim medical superiority.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All demonstration data in this prototype is synthetic; no real child information is used.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Next steps: broaden verified center coverage, pilot with a small guardian and specialist group, and formalize the sustainability model.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3EC22C8-1A07-126F-2949-95A3ADA9F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57467" y="142130"/>
            <a:ext cx="5120640" cy="267844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6F09FAD-5422-EC1D-AFD2-D8E43AB098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8694" y="38713122"/>
            <a:ext cx="1896081" cy="1896081"/>
          </a:xfrm>
          <a:prstGeom prst="rect">
            <a:avLst/>
          </a:prstGeom>
        </p:spPr>
      </p:pic>
      <p:sp>
        <p:nvSpPr>
          <p:cNvPr id="3006" name="Rounded Rectangle 3005"/>
          <p:cNvSpPr/>
          <p:nvPr/>
        </p:nvSpPr>
        <p:spPr>
          <a:xfrm>
            <a:off x="16550640" y="15727680"/>
            <a:ext cx="3840480" cy="685800"/>
          </a:xfrm>
          <a:prstGeom prst="roundRect">
            <a:avLst>
              <a:gd name="adj" fmla="val 10000"/>
            </a:avLst>
          </a:prstGeom>
          <a:solidFill>
            <a:srgbClr val="E6F5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2000" b="1">
                <a:solidFill>
                  <a:srgbClr val="0A3D45"/>
                </a:solidFill>
                <a:latin typeface="Calibri"/>
              </a:rPr>
              <a:t>Guardian</a:t>
            </a:r>
          </a:p>
        </p:txBody>
      </p:sp>
      <p:sp>
        <p:nvSpPr>
          <p:cNvPr id="3007" name="Rounded Rectangle 3006"/>
          <p:cNvSpPr/>
          <p:nvPr/>
        </p:nvSpPr>
        <p:spPr>
          <a:xfrm>
            <a:off x="20848320" y="15727680"/>
            <a:ext cx="3840480" cy="685800"/>
          </a:xfrm>
          <a:prstGeom prst="roundRect">
            <a:avLst>
              <a:gd name="adj" fmla="val 10000"/>
            </a:avLst>
          </a:prstGeom>
          <a:solidFill>
            <a:srgbClr val="E6F5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2000" b="1">
                <a:solidFill>
                  <a:srgbClr val="0A3D45"/>
                </a:solidFill>
                <a:latin typeface="Calibri"/>
              </a:rPr>
              <a:t>Care Specialist</a:t>
            </a:r>
          </a:p>
        </p:txBody>
      </p:sp>
      <p:sp>
        <p:nvSpPr>
          <p:cNvPr id="3008" name="Rounded Rectangle 3007"/>
          <p:cNvSpPr/>
          <p:nvPr/>
        </p:nvSpPr>
        <p:spPr>
          <a:xfrm>
            <a:off x="25146000" y="15727680"/>
            <a:ext cx="3840480" cy="685800"/>
          </a:xfrm>
          <a:prstGeom prst="roundRect">
            <a:avLst>
              <a:gd name="adj" fmla="val 10000"/>
            </a:avLst>
          </a:prstGeom>
          <a:solidFill>
            <a:srgbClr val="E6F5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2000" b="1">
                <a:solidFill>
                  <a:srgbClr val="0A3D45"/>
                </a:solidFill>
                <a:latin typeface="Calibri"/>
              </a:rPr>
              <a:t>Center</a:t>
            </a:r>
          </a:p>
        </p:txBody>
      </p:sp>
      <p:sp>
        <p:nvSpPr>
          <p:cNvPr id="3009" name="Down Arrow 3008"/>
          <p:cNvSpPr/>
          <p:nvPr/>
        </p:nvSpPr>
        <p:spPr>
          <a:xfrm>
            <a:off x="22567392" y="16431767"/>
            <a:ext cx="402336" cy="201168"/>
          </a:xfrm>
          <a:prstGeom prst="downArrow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0" name="Rounded Rectangle 3009"/>
          <p:cNvSpPr/>
          <p:nvPr/>
        </p:nvSpPr>
        <p:spPr>
          <a:xfrm>
            <a:off x="16550640" y="16687800"/>
            <a:ext cx="12435840" cy="73152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Weam Platform — FastAPI + PostgreSQL
Access control enforced on every request</a:t>
            </a:r>
          </a:p>
        </p:txBody>
      </p:sp>
      <p:sp>
        <p:nvSpPr>
          <p:cNvPr id="3011" name="Down Arrow 3010"/>
          <p:cNvSpPr/>
          <p:nvPr/>
        </p:nvSpPr>
        <p:spPr>
          <a:xfrm>
            <a:off x="22567392" y="17437608"/>
            <a:ext cx="402336" cy="201168"/>
          </a:xfrm>
          <a:prstGeom prst="downArrow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2" name="Rounded Rectangle 3011"/>
          <p:cNvSpPr/>
          <p:nvPr/>
        </p:nvSpPr>
        <p:spPr>
          <a:xfrm>
            <a:off x="16550640" y="17693640"/>
            <a:ext cx="6035040" cy="731520"/>
          </a:xfrm>
          <a:prstGeom prst="roundRect">
            <a:avLst>
              <a:gd name="adj" fmla="val 10000"/>
            </a:avLst>
          </a:prstGeom>
          <a:solidFill>
            <a:srgbClr val="E6F5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0A3D45"/>
                </a:solidFill>
                <a:latin typeface="Calibri"/>
              </a:rPr>
              <a:t>AI Assistant
Hosted LLM + local fallback</a:t>
            </a:r>
          </a:p>
        </p:txBody>
      </p:sp>
      <p:sp>
        <p:nvSpPr>
          <p:cNvPr id="3013" name="Rounded Rectangle 3012"/>
          <p:cNvSpPr/>
          <p:nvPr/>
        </p:nvSpPr>
        <p:spPr>
          <a:xfrm>
            <a:off x="22951440" y="17693640"/>
            <a:ext cx="6035040" cy="731520"/>
          </a:xfrm>
          <a:prstGeom prst="roundRect">
            <a:avLst>
              <a:gd name="adj" fmla="val 10000"/>
            </a:avLst>
          </a:prstGeom>
          <a:solidFill>
            <a:srgbClr val="E6F5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0A3D45"/>
                </a:solidFill>
                <a:latin typeface="Calibri"/>
              </a:rPr>
              <a:t>18 Versioned
DB Migrations</a:t>
            </a:r>
          </a:p>
        </p:txBody>
      </p:sp>
      <p:sp>
        <p:nvSpPr>
          <p:cNvPr id="3014" name="TextBox 3013"/>
          <p:cNvSpPr txBox="1"/>
          <p:nvPr/>
        </p:nvSpPr>
        <p:spPr>
          <a:xfrm>
            <a:off x="16550640" y="18562320"/>
            <a:ext cx="12435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i="1">
                <a:solidFill>
                  <a:srgbClr val="0A3D45"/>
                </a:solidFill>
                <a:latin typeface="Calibri"/>
              </a:rPr>
              <a:t>Figure 1. Weam's architecture — one permission-controlled record, shared safely.</a:t>
            </a:r>
          </a:p>
        </p:txBody>
      </p:sp>
      <p:graphicFrame>
        <p:nvGraphicFramePr>
          <p:cNvPr id="3015" name="Chart 3014"/>
          <p:cNvGraphicFramePr>
            <a:graphicFrameLocks noGrp="1"/>
          </p:cNvGraphicFramePr>
          <p:nvPr/>
        </p:nvGraphicFramePr>
        <p:xfrm>
          <a:off x="16550640" y="25237440"/>
          <a:ext cx="7498079" cy="265176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016" name="Rounded Rectangle 3015"/>
          <p:cNvSpPr/>
          <p:nvPr/>
        </p:nvSpPr>
        <p:spPr>
          <a:xfrm>
            <a:off x="24323040" y="25237440"/>
            <a:ext cx="4663440" cy="2651760"/>
          </a:xfrm>
          <a:prstGeom prst="roundRect">
            <a:avLst>
              <a:gd name="adj" fmla="val 8000"/>
            </a:avLst>
          </a:prstGeom>
          <a:solidFill>
            <a:srgbClr val="E6F5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4000" b="1">
                <a:solidFill>
                  <a:srgbClr val="0A3D45"/>
                </a:solidFill>
                <a:latin typeface="Calibri"/>
              </a:rPr>
              <a:t>5.18 : 1</a:t>
            </a:r>
          </a:p>
          <a:p>
            <a:pPr algn="ctr"/>
            <a:r>
              <a:rPr sz="1800" b="1">
                <a:solidFill>
                  <a:srgbClr val="0A3D45"/>
                </a:solidFill>
                <a:latin typeface="Calibri"/>
              </a:rPr>
              <a:t>Contrast ratio achieved</a:t>
            </a:r>
          </a:p>
          <a:p>
            <a:pPr algn="ctr"/>
            <a:r>
              <a:rPr sz="1600">
                <a:solidFill>
                  <a:srgbClr val="0A3D45"/>
                </a:solidFill>
                <a:latin typeface="Calibri"/>
              </a:rPr>
              <a:t>(WCAG AA requires 4.5 : 1)</a:t>
            </a:r>
          </a:p>
        </p:txBody>
      </p:sp>
      <p:sp>
        <p:nvSpPr>
          <p:cNvPr id="3017" name="TextBox 3016"/>
          <p:cNvSpPr txBox="1"/>
          <p:nvPr/>
        </p:nvSpPr>
        <p:spPr>
          <a:xfrm>
            <a:off x="16550640" y="28026360"/>
            <a:ext cx="12435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i="1">
                <a:solidFill>
                  <a:srgbClr val="0A3D45"/>
                </a:solidFill>
                <a:latin typeface="Calibri"/>
              </a:rPr>
              <a:t>Figure 2. Every automated QA gate passed on real infrastructure.</a:t>
            </a:r>
          </a:p>
        </p:txBody>
      </p:sp>
      <p:pic>
        <p:nvPicPr>
          <p:cNvPr id="3018" name="Picture 3017" descr="screenshot_her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2976" y="32506919"/>
            <a:ext cx="5486400" cy="3199921"/>
          </a:xfrm>
          <a:prstGeom prst="rect">
            <a:avLst/>
          </a:prstGeom>
          <a:ln w="19050">
            <a:solidFill>
              <a:srgbClr val="00A896"/>
            </a:solidFill>
          </a:ln>
          <a:effectLst/>
        </p:spPr>
      </p:pic>
      <p:sp>
        <p:nvSpPr>
          <p:cNvPr id="3019" name="TextBox 3018"/>
          <p:cNvSpPr txBox="1"/>
          <p:nvPr/>
        </p:nvSpPr>
        <p:spPr>
          <a:xfrm>
            <a:off x="2048256" y="35844001"/>
            <a:ext cx="124358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000" i="1">
                <a:solidFill>
                  <a:srgbClr val="0A3D45"/>
                </a:solidFill>
                <a:latin typeface="Calibri"/>
              </a:rPr>
              <a:t>Figure 3. Every AI finding stays a draft until a human reviews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579</Words>
  <Application>Microsoft Office PowerPoint</Application>
  <PresentationFormat>Custom</PresentationFormat>
  <Paragraphs>52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Cambria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Local-G</dc:creator>
  <cp:keywords/>
  <dc:description>generated using python-pptx</dc:description>
  <cp:lastModifiedBy>TARFAA TIRAD DHAIFULLAH ALOKUR</cp:lastModifiedBy>
  <cp:revision>10</cp:revision>
  <dcterms:created xsi:type="dcterms:W3CDTF">2013-01-27T09:14:16Z</dcterms:created>
  <dcterms:modified xsi:type="dcterms:W3CDTF">2026-09-04T07:37:21Z</dcterms:modified>
  <cp:category/>
</cp:coreProperties>
</file>