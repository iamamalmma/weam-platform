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24" userDrawn="1">
          <p15:clr>
            <a:srgbClr val="A4A3A4"/>
          </p15:clr>
        </p15:guide>
        <p15:guide id="2" pos="183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7CB"/>
    <a:srgbClr val="00DA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91"/>
    <p:restoredTop sz="94657"/>
  </p:normalViewPr>
  <p:slideViewPr>
    <p:cSldViewPr snapToGrid="0" snapToObjects="1">
      <p:cViewPr varScale="1">
        <p:scale>
          <a:sx n="12" d="100"/>
          <a:sy n="12" d="100"/>
        </p:scale>
        <p:origin x="2904" y="158"/>
      </p:cViewPr>
      <p:guideLst>
        <p:guide orient="horz" pos="1824"/>
        <p:guide pos="1838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AFB08B-8ECA-DE44-B949-98173D708852}" type="datetimeFigureOut">
              <a:rPr lang="en-SA" smtClean="0"/>
              <a:t>09/01/2026</a:t>
            </a:fld>
            <a:endParaRPr lang="en-S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81C374-5357-6A40-95D9-8ABE5ADC1E8C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772392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1C374-5357-6A40-95D9-8ABE5ADC1E8C}" type="slidenum">
              <a:rPr lang="en-SA" smtClean="0"/>
              <a:t>1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903486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994116" y="3392244"/>
            <a:ext cx="5852160" cy="1554480"/>
          </a:xfrm>
          <a:prstGeom prst="roundRect">
            <a:avLst>
              <a:gd name="adj" fmla="val 50000"/>
            </a:avLst>
          </a:prstGeom>
          <a:solidFill>
            <a:srgbClr val="0A3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 b="1" dirty="0">
                <a:solidFill>
                  <a:srgbClr val="FFFFFF"/>
                </a:solidFill>
                <a:latin typeface="Calibri"/>
              </a:rPr>
              <a:t>TEAM</a:t>
            </a:r>
            <a:r>
              <a:rPr lang="en-US" sz="3400" b="1" dirty="0">
                <a:solidFill>
                  <a:srgbClr val="FFFFFF"/>
                </a:solidFill>
                <a:latin typeface="Calibri"/>
              </a:rPr>
              <a:t> NUMBER</a:t>
            </a:r>
            <a:r>
              <a:rPr sz="3400" b="1" dirty="0">
                <a:solidFill>
                  <a:srgbClr val="FFFFFF"/>
                </a:solidFill>
                <a:latin typeface="Calibri"/>
              </a:rPr>
              <a:t>  [</a:t>
            </a:r>
            <a:r>
              <a:rPr lang="en-US" sz="3400" b="1" dirty="0">
                <a:solidFill>
                  <a:srgbClr val="FFFFFF"/>
                </a:solidFill>
              </a:rPr>
              <a:t>KSCDR_Hackathon_0</a:t>
            </a:r>
            <a:r>
              <a:rPr sz="3400" b="1" dirty="0">
                <a:solidFill>
                  <a:srgbClr val="FFFFFF"/>
                </a:solidFill>
                <a:latin typeface="Calibri"/>
              </a:rPr>
              <a:t>00 ]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9800" y="3523798"/>
            <a:ext cx="12464080" cy="5816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600" b="1" dirty="0">
                <a:solidFill>
                  <a:srgbClr val="00A896"/>
                </a:solidFill>
                <a:latin typeface="Calibri"/>
              </a:rPr>
              <a:t>AI HACKATHON FOR PEOPLE WITH DISABILITIES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6657" y="4639281"/>
            <a:ext cx="9964617" cy="18097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200" b="1" dirty="0">
                <a:solidFill>
                  <a:srgbClr val="0A3D45"/>
                </a:solidFill>
                <a:latin typeface="Cambria"/>
              </a:rPr>
              <a:t>[ Project title ]</a:t>
            </a:r>
          </a:p>
        </p:txBody>
      </p:sp>
      <p:sp>
        <p:nvSpPr>
          <p:cNvPr id="8" name="Rectangle 7"/>
          <p:cNvSpPr/>
          <p:nvPr/>
        </p:nvSpPr>
        <p:spPr>
          <a:xfrm flipV="1">
            <a:off x="994116" y="8365775"/>
            <a:ext cx="28185722" cy="68266"/>
          </a:xfrm>
          <a:prstGeom prst="rect">
            <a:avLst/>
          </a:prstGeom>
          <a:solidFill>
            <a:srgbClr val="00C7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94116" y="8891241"/>
            <a:ext cx="13308806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000" b="1" dirty="0">
                <a:solidFill>
                  <a:srgbClr val="00A896"/>
                </a:solidFill>
                <a:latin typeface="Calibri"/>
              </a:rPr>
              <a:t>TEAM MEMBERS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dirty="0">
                <a:solidFill>
                  <a:srgbClr val="0A3D45"/>
                </a:solidFill>
                <a:latin typeface="Calibri"/>
              </a:rPr>
              <a:t>[ Full name 1  ·  Full name 2  ·  Full name 3  ·  Full name 4  ·  Full name 5 ]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686246" y="8891241"/>
            <a:ext cx="13308806" cy="19891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000" b="1" dirty="0">
                <a:solidFill>
                  <a:srgbClr val="00A896"/>
                </a:solidFill>
                <a:latin typeface="Calibri"/>
              </a:rPr>
              <a:t>AFFILIATION</a:t>
            </a:r>
          </a:p>
          <a:p>
            <a:pPr algn="l">
              <a:lnSpc>
                <a:spcPct val="105000"/>
              </a:lnSpc>
              <a:spcAft>
                <a:spcPts val="1800"/>
              </a:spcAft>
            </a:pPr>
            <a:r>
              <a:rPr lang="en-US" sz="2800" b="0" dirty="0">
                <a:solidFill>
                  <a:srgbClr val="0A3D45"/>
                </a:solidFill>
                <a:latin typeface="Calibri"/>
              </a:rPr>
              <a:t> </a:t>
            </a:r>
            <a:endParaRPr sz="2800" b="0" dirty="0">
              <a:solidFill>
                <a:srgbClr val="0A3D45"/>
              </a:solidFill>
              <a:latin typeface="Calibri"/>
            </a:endParaRP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000" b="1" dirty="0">
                <a:solidFill>
                  <a:srgbClr val="00A896"/>
                </a:solidFill>
                <a:latin typeface="Calibri"/>
              </a:rPr>
              <a:t>TRACK  ·  CATEGORY</a:t>
            </a:r>
          </a:p>
          <a:p>
            <a:pPr>
              <a:lnSpc>
                <a:spcPct val="105000"/>
              </a:lnSpc>
            </a:pPr>
            <a:r>
              <a:rPr sz="2600" b="0" dirty="0">
                <a:solidFill>
                  <a:srgbClr val="0A3D45"/>
                </a:solidFill>
                <a:latin typeface="Calibri"/>
              </a:rPr>
              <a:t>Everyday Life  ·  Individuals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1618" y="11405841"/>
            <a:ext cx="13680222" cy="786384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9050">
            <a:solidFill>
              <a:srgbClr val="D7E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544538" y="12055065"/>
            <a:ext cx="310896" cy="310896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047458" y="11908761"/>
            <a:ext cx="12435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dirty="0">
                <a:solidFill>
                  <a:srgbClr val="0A3D45"/>
                </a:solidFill>
                <a:latin typeface="Cambria"/>
              </a:rPr>
              <a:t>Introduction and problem statement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1618" y="19818321"/>
            <a:ext cx="13680222" cy="786384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9050">
            <a:solidFill>
              <a:srgbClr val="D7E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544538" y="20467545"/>
            <a:ext cx="310896" cy="310896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047458" y="20321241"/>
            <a:ext cx="12435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>
                <a:solidFill>
                  <a:srgbClr val="0A3D45"/>
                </a:solidFill>
                <a:latin typeface="Cambria"/>
              </a:rPr>
              <a:t>Objectives and target users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1618" y="28230801"/>
            <a:ext cx="13680222" cy="877824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9050">
            <a:solidFill>
              <a:srgbClr val="D7E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544538" y="28880025"/>
            <a:ext cx="310896" cy="310896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047458" y="28733721"/>
            <a:ext cx="12435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>
                <a:solidFill>
                  <a:srgbClr val="0A3D45"/>
                </a:solidFill>
                <a:latin typeface="Cambria"/>
              </a:rPr>
              <a:t>Proposed solution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549086" y="11405841"/>
            <a:ext cx="13445966" cy="832104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9050">
            <a:solidFill>
              <a:srgbClr val="D7E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6052006" y="12055065"/>
            <a:ext cx="310896" cy="310896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6554926" y="11908761"/>
            <a:ext cx="12435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>
                <a:solidFill>
                  <a:srgbClr val="0A3D45"/>
                </a:solidFill>
                <a:latin typeface="Cambria"/>
              </a:rPr>
              <a:t>Methodology and system design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549086" y="20275521"/>
            <a:ext cx="13445966" cy="832104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9050">
            <a:solidFill>
              <a:srgbClr val="D7E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6052006" y="20924745"/>
            <a:ext cx="310896" cy="310896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6554926" y="20778441"/>
            <a:ext cx="12435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>
                <a:solidFill>
                  <a:srgbClr val="0A3D45"/>
                </a:solidFill>
                <a:latin typeface="Cambria"/>
              </a:rPr>
              <a:t>Results and evaluation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5549086" y="29145201"/>
            <a:ext cx="13445966" cy="786384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9050">
            <a:solidFill>
              <a:srgbClr val="D7E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6052006" y="29794425"/>
            <a:ext cx="310896" cy="310896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6554926" y="29648121"/>
            <a:ext cx="12435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>
                <a:solidFill>
                  <a:srgbClr val="0A3D45"/>
                </a:solidFill>
                <a:latin typeface="Cambria"/>
              </a:rPr>
              <a:t>Discussion, impact and ethics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80160" y="38460363"/>
            <a:ext cx="27714892" cy="2423160"/>
          </a:xfrm>
          <a:prstGeom prst="roundRect">
            <a:avLst>
              <a:gd name="adj" fmla="val 1200"/>
            </a:avLst>
          </a:prstGeom>
          <a:solidFill>
            <a:srgbClr val="EAF5F3"/>
          </a:solidFill>
          <a:ln w="19050">
            <a:solidFill>
              <a:srgbClr val="D7E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1783080" y="38713122"/>
            <a:ext cx="5063197" cy="1896081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9050">
            <a:solidFill>
              <a:srgbClr val="D7E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783080" y="38871843"/>
            <a:ext cx="5063196" cy="1551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600" b="1" dirty="0">
                <a:solidFill>
                  <a:srgbClr val="8FA3A8"/>
                </a:solidFill>
                <a:latin typeface="Calibri"/>
              </a:rPr>
              <a:t>[ QR 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274954" y="38871843"/>
            <a:ext cx="3034298" cy="1486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dirty="0">
                <a:solidFill>
                  <a:srgbClr val="00A896"/>
                </a:solidFill>
                <a:latin typeface="Calibri"/>
              </a:rPr>
              <a:t>Contact: </a:t>
            </a:r>
            <a:r>
              <a:rPr lang="en-US" sz="2000" b="1" dirty="0">
                <a:solidFill>
                  <a:srgbClr val="00A896"/>
                </a:solidFill>
                <a:latin typeface="Calibri"/>
              </a:rPr>
              <a:t/>
            </a:r>
            <a:br>
              <a:rPr lang="en-US" sz="2000" b="1" dirty="0">
                <a:solidFill>
                  <a:srgbClr val="00A896"/>
                </a:solidFill>
                <a:latin typeface="Calibri"/>
              </a:rPr>
            </a:br>
            <a:r>
              <a:rPr sz="2400" b="0" dirty="0">
                <a:solidFill>
                  <a:srgbClr val="8FA3A8"/>
                </a:solidFill>
                <a:latin typeface="Calibri"/>
              </a:rPr>
              <a:t>name</a:t>
            </a:r>
            <a:r>
              <a:rPr lang="en-US" sz="2400" b="0" dirty="0">
                <a:solidFill>
                  <a:srgbClr val="8FA3A8"/>
                </a:solidFill>
                <a:latin typeface="Calibri"/>
              </a:rPr>
              <a:t/>
            </a:r>
            <a:br>
              <a:rPr lang="en-US" sz="2400" b="0" dirty="0">
                <a:solidFill>
                  <a:srgbClr val="8FA3A8"/>
                </a:solidFill>
                <a:latin typeface="Calibri"/>
              </a:rPr>
            </a:br>
            <a:r>
              <a:rPr sz="2400" b="0" dirty="0">
                <a:solidFill>
                  <a:srgbClr val="8FA3A8"/>
                </a:solidFill>
                <a:latin typeface="Calibri"/>
              </a:rPr>
              <a:t>email </a:t>
            </a:r>
            <a:r>
              <a:rPr lang="en-US" sz="2400" b="0" dirty="0">
                <a:solidFill>
                  <a:srgbClr val="8FA3A8"/>
                </a:solidFill>
                <a:latin typeface="Calibri"/>
              </a:rPr>
              <a:t/>
            </a:r>
            <a:br>
              <a:rPr lang="en-US" sz="2400" b="0" dirty="0">
                <a:solidFill>
                  <a:srgbClr val="8FA3A8"/>
                </a:solidFill>
                <a:latin typeface="Calibri"/>
              </a:rPr>
            </a:br>
            <a:r>
              <a:rPr sz="2400" b="0" dirty="0">
                <a:solidFill>
                  <a:srgbClr val="8FA3A8"/>
                </a:solidFill>
                <a:latin typeface="Calibri"/>
              </a:rPr>
              <a:t>mobile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80160" y="41843643"/>
            <a:ext cx="2771489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AI Hackathon for People with Disabilities  ·  King Salman Center for Disability Research  ·  Riyadh, 11–13 October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80160" y="41843643"/>
            <a:ext cx="2771489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hackathon.kscdr.org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4857467" y="598920"/>
            <a:ext cx="51206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7E4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200" b="0" dirty="0">
              <a:solidFill>
                <a:srgbClr val="8FA3A8"/>
              </a:solidFill>
              <a:latin typeface="Calibri"/>
            </a:endParaRPr>
          </a:p>
        </p:txBody>
      </p:sp>
      <p:sp>
        <p:nvSpPr>
          <p:cNvPr id="3000" name="PosterBody3000"/>
          <p:cNvSpPr/>
          <p:nvPr/>
        </p:nvSpPr>
        <p:spPr>
          <a:xfrm>
            <a:off x="2047458" y="13150000"/>
            <a:ext cx="12435840" cy="5819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A child's care journey is split across guardians, specialists, teachers, and centers, with no shared record between them.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Families repeat the same history at every visit; specialists work from partial context.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Reports, goals, and follow-ups live in different places and often go untracked.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Existing tools are either generic file storage or single-purpose apps.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Weam is built for different needs, not one diagnosis: hearing, mobility, learning, and early-intervention support.</a:t>
            </a:r>
          </a:p>
        </p:txBody>
      </p:sp>
      <p:sp>
        <p:nvSpPr>
          <p:cNvPr id="3001" name="PosterBody3001"/>
          <p:cNvSpPr/>
          <p:nvPr/>
        </p:nvSpPr>
        <p:spPr>
          <a:xfrm>
            <a:off x="2047458" y="21550000"/>
            <a:ext cx="12435840" cy="583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Give guardians one permission-controlled record for their child's reports, goals, and care team.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Let authorized specialists contribute and view only what they are granted.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Provide explainable, non-diagnostic AI assistance that summarizes and retrieves, never decides.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Primary users: guardians, care providers, centers, and administrators.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Demonstrated across four synthetic care journeys with different needs.</a:t>
            </a:r>
          </a:p>
        </p:txBody>
      </p:sp>
      <p:sp>
        <p:nvSpPr>
          <p:cNvPr id="3002" name="PosterBody3002"/>
          <p:cNvSpPr/>
          <p:nvPr/>
        </p:nvSpPr>
        <p:spPr>
          <a:xfrm>
            <a:off x="2047458" y="29950000"/>
            <a:ext cx="12435840" cy="6759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One responsive web application for laptop and phone, Arabic-first with correct right-to-left layout.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A unified child record, with identity kept separate from care data at the database level.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Guardian-controlled care-team permissions, with expiry and revocation.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AI-assisted report summaries, a grounded assistant, and explainable center matching.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Every AI-generated output stays a labeled draft until a human reviews it.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rgbClr val="8FA3A8"/>
                </a:solidFill>
                <a:latin typeface="Calibri"/>
              </a:rPr>
              <a:t>To insert: screenshot of the child record / AI analysis screen</a:t>
            </a:r>
          </a:p>
        </p:txBody>
      </p:sp>
      <p:sp>
        <p:nvSpPr>
          <p:cNvPr id="3003" name="PosterBody3003"/>
          <p:cNvSpPr/>
          <p:nvPr/>
        </p:nvSpPr>
        <p:spPr>
          <a:xfrm>
            <a:off x="16554926" y="13150000"/>
            <a:ext cx="12435840" cy="6276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FastAPI and PostgreSQL backend, React and TypeScript frontend, schema managed with versioned migrations.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Access control enforced on every server request, not only hidden in the interface.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A hosted language model handles summarization and grounded question-answering, with a local deterministic fallback if it is unavailable.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Authentication hardened this cycle: login lockout, refresh-token rotation, and a production-configuration guard.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Identity data is separated from care data by design, not by view-level filtering alone.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rgbClr val="8FA3A8"/>
                </a:solidFill>
                <a:latin typeface="Calibri"/>
              </a:rPr>
              <a:t>To insert: system architecture diagram</a:t>
            </a:r>
          </a:p>
        </p:txBody>
      </p:sp>
      <p:sp>
        <p:nvSpPr>
          <p:cNvPr id="3004" name="PosterBody3004"/>
          <p:cNvSpPr/>
          <p:nvPr/>
        </p:nvSpPr>
        <p:spPr>
          <a:xfrm>
            <a:off x="16554926" y="22000000"/>
            <a:ext cx="12435840" cy="629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111 of 111 backend tests passing, including new security regression tests.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All 18 database migrations verified from empty on a real PostgreSQL instance.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Zero horizontal-overflow issues found across five required screen sizes.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Every text-and-background color pairing checked against WCAG AA; worst case 5.18:1 contrast.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Engineering and QA evidence — no user study has been conducted yet.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rgbClr val="8FA3A8"/>
                </a:solidFill>
                <a:latin typeface="Calibri"/>
              </a:rPr>
              <a:t>To insert: chart summarizing the QA results above</a:t>
            </a:r>
          </a:p>
        </p:txBody>
      </p:sp>
      <p:sp>
        <p:nvSpPr>
          <p:cNvPr id="3005" name="PosterBody3005"/>
          <p:cNvSpPr/>
          <p:nvPr/>
        </p:nvSpPr>
        <p:spPr>
          <a:xfrm>
            <a:off x="16554926" y="30870000"/>
            <a:ext cx="12435840" cy="5839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Designed for guardian consent and least-privilege access from the data model up.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AI never diagnoses or prescribes treatment; every AI-influenced output requires human review before it can affect the record.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Center recommendations are explainable and never claim medical superiority.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All demonstration data in this prototype is synthetic; no real child information is used.</a:t>
            </a:r>
          </a:p>
          <a:p>
            <a:pPr marL="342900" indent="-3429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3D45"/>
                </a:solidFill>
                <a:latin typeface="Calibri"/>
              </a:rPr>
              <a:t>Next steps: broaden verified center coverage, pilot with a small guardian and specialist group, and formalize the sustainability model.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109</Words>
  <Application>Microsoft Office PowerPoint</Application>
  <PresentationFormat>Custom</PresentationFormat>
  <Paragraphs>21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Cambria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Local-G</dc:creator>
  <cp:keywords/>
  <dc:description>generated using python-pptx</dc:description>
  <cp:lastModifiedBy>Local-G</cp:lastModifiedBy>
  <cp:revision>9</cp:revision>
  <dcterms:created xsi:type="dcterms:W3CDTF">2013-01-27T09:14:16Z</dcterms:created>
  <dcterms:modified xsi:type="dcterms:W3CDTF">2026-09-01T18:42:01Z</dcterms:modified>
  <cp:category/>
</cp:coreProperties>
</file>